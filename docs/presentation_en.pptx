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PITCH  ·  MAY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Lead Capture with 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identify new customers 24/7, structure their data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create them in Salesforce — without manual research.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2743200" cy="0"/>
          </a:xfrm>
          <a:prstGeom prst="line">
            <a:avLst/>
          </a:prstGeom>
          <a:noFill/>
          <a:ln w="25400">
            <a:solidFill>
              <a:srgbClr val="7AB0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Marketing &amp;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stand today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research is manual, slow and inconsistent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57784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73152" cy="12801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research eats time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5–10 minutes per lead copying from Google, LinkedIn, company websites. Not scalable.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57784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71800"/>
            <a:ext cx="73152" cy="12801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089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slip through the cracks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data from email signatures rarely captured. Potential left on the table.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5577840" cy="12801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480560"/>
            <a:ext cx="73152" cy="12801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617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 is inconsistent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enters data differently. Salesforce records are incomplete, duplicates accumulate.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463040"/>
            <a:ext cx="5029200" cy="4617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we lose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2194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15–30</a:t>
            </a:r>
            <a:endParaRPr lang="en-US" sz="11000" dirty="0"/>
          </a:p>
        </p:txBody>
      </p:sp>
      <p:sp>
        <p:nvSpPr>
          <p:cNvPr id="21" name="Text 19"/>
          <p:cNvSpPr/>
          <p:nvPr/>
        </p:nvSpPr>
        <p:spPr>
          <a:xfrm>
            <a:off x="6766560" y="3840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of manual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4206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per month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4846320"/>
            <a:ext cx="1371600" cy="0"/>
          </a:xfrm>
          <a:prstGeom prst="line">
            <a:avLst/>
          </a:prstGeom>
          <a:noFill/>
          <a:ln w="25400">
            <a:solidFill>
              <a:srgbClr val="7AB0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…plus an unknown number of leads we never capture.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 in one picture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automated channels, one unified format, direct path to Salesforce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291840" cy="2926080"/>
          </a:xfrm>
          <a:prstGeom prst="rect">
            <a:avLst/>
          </a:prstGeom>
          <a:solidFill>
            <a:srgbClr val="EEF6DC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DISCOVER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Channels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Research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new target customers
from the web every day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Signatures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contact data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every incoming mail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5400000">
            <a:off x="3977640" y="3383280"/>
            <a:ext cx="457200" cy="548640"/>
          </a:xfrm>
          <a:prstGeom prst="rtTriangle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194560"/>
            <a:ext cx="3291840" cy="2926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PROCESS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3383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data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Company, name, email, phone,
industry – structured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quality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 duplicates, missing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fields, plausibility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rot="5400000">
            <a:off x="7955280" y="3383280"/>
            <a:ext cx="457200" cy="548640"/>
          </a:xfrm>
          <a:prstGeom prst="rtTriangle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2194560"/>
            <a:ext cx="3108960" cy="2926080"/>
          </a:xfrm>
          <a:prstGeom prst="rect">
            <a:avLst/>
          </a:prstGeom>
          <a:solidFill>
            <a:srgbClr val="EEF6DC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HANDOVER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32520" y="338328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5 minutes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leads land
automatically in the
sales queue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process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keeps working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usual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automated  ·  unified data format  ·  quality control built-in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1: Web Research (proactive)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actively search for new target customers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search criteria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258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team specifies: which industry, region, company size.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automatically every night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49300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finds matching companies and enriches them with public data.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over structured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7274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Company, contact, email, phone, industry — all in a unified format.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4846320" cy="480060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371600"/>
            <a:ext cx="48463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LEAD FROM THE WEB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Müller Maschinenbau GmbH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mueller-maschinen.de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Anna Beck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of Procurement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a.beck@mueller-maschinen.de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+49 89 123456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4480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Mechanical Engineering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4892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5303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78240" y="5303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Munich, 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2: Email Signatures (reactive)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new email can be a lead — we extract data automatically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arrives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258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external email reaches our sales mailbox in Outlook.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 signature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49300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reads the signature block and identifies the fields automatically.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lead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7274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lands in the same format as Channel 1 — same quality check.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4846320" cy="4800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5E8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371600"/>
            <a:ext cx="48463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EMAIL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1965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thomas.weber@solar-nord.de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information request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2697480"/>
            <a:ext cx="4480560" cy="0"/>
          </a:xfrm>
          <a:prstGeom prst="line">
            <a:avLst/>
          </a:prstGeom>
          <a:noFill/>
          <a:ln w="12700">
            <a:solidFill>
              <a:srgbClr val="D5E8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7889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Dear Sir or Madam,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please send me your current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documentation.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Kind regards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4251960"/>
            <a:ext cx="4572000" cy="1828800"/>
          </a:xfrm>
          <a:prstGeom prst="rect">
            <a:avLst/>
          </a:prstGeom>
          <a:solidFill>
            <a:srgbClr val="EEF6DC"/>
          </a:solidFill>
          <a:ln w="25400">
            <a:solidFill>
              <a:srgbClr val="7AB0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Thomas Weber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4617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Director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48920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Solar Nord GmbH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Hafenstraße 12, 22767 Hamburg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Phone: +49 40 555 1234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thomas.weber@solar-nord.de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6126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AI extracts automatically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assurance: human meets machine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every lead lands in Salesforce automatically — a human decides when uncertain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4114800"/>
          </a:xfrm>
          <a:prstGeom prst="rect">
            <a:avLst/>
          </a:prstGeom>
          <a:solidFill>
            <a:srgbClr val="E6F4EC"/>
          </a:solidFill>
          <a:ln w="12700">
            <a:solidFill>
              <a:srgbClr val="2C8C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611880" cy="548640"/>
          </a:xfrm>
          <a:prstGeom prst="rect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DIRECTLY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data quality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required fields present, domain known, plausibility ok.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3063240" cy="0"/>
          </a:xfrm>
          <a:prstGeom prst="line">
            <a:avLst/>
          </a:prstGeom>
          <a:noFill/>
          <a:ln w="12700">
            <a:solidFill>
              <a:srgbClr val="2C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09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8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Automatic push to Salesforce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611880" cy="4114800"/>
          </a:xfrm>
          <a:prstGeom prst="rect">
            <a:avLst/>
          </a:prstGeom>
          <a:solidFill>
            <a:srgbClr val="FDF1DA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463040"/>
            <a:ext cx="3611880" cy="54864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554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quality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fields ok, but new domain or unusual values.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4572000"/>
            <a:ext cx="30632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709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Email to sales with "Create / Reject"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463040"/>
            <a:ext cx="3611880" cy="4114800"/>
          </a:xfrm>
          <a:prstGeom prst="rect">
            <a:avLst/>
          </a:prstGeom>
          <a:solidFill>
            <a:srgbClr val="FBEAE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463040"/>
            <a:ext cx="3611880" cy="548640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5544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quality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12480" y="3017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fields missing or data not plausible.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0" y="4572000"/>
            <a:ext cx="3063240" cy="0"/>
          </a:xfrm>
          <a:prstGeom prst="line">
            <a:avLst/>
          </a:prstGeom>
          <a:noFill/>
          <a:ln w="12700">
            <a:solidFill>
              <a:srgbClr val="B2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709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2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Not created, archived with reason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no junk in Salesforce — and no real lead lost.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changes for the sales team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Spoiler: nothing about the tools. A lot about pipeline quality.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212080" cy="457200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process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researches every lead manually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383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Signatures rarely captured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 in SF is inconsistent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Duplicates accumulate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time on new emails: hours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5212080" cy="4572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011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process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land in the queue automatically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95160" y="3383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email signature is captured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data format everywhere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389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4389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Duplicates detected automatically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4892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4892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time on new emails: minutes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keeps using Salesforce as usual — but gets more, better and faster leads.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tool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building blocks we use — and why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section starts here — details for IT /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36118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CHANNELS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lead discovery + enrichment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Graph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Outlook mail push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69164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691640"/>
            <a:ext cx="36118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194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+ FastAPI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2514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endpoints, logic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 (Haiku)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data extraction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69164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691640"/>
            <a:ext cx="36118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&amp; JOBS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21945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2514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database, single file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APScheduler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3291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In-service cron jobs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023360"/>
            <a:ext cx="3611880" cy="3657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 REST API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4846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Lead.create every 5 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303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SMTP / Magic Links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5623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mails to sales team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43400" y="402336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3400" y="4023360"/>
            <a:ext cx="3611880" cy="3657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&amp; OPS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2628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+ docker-compose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26280" y="4846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Containerized stack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26280" y="5303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Hetzner VPS + Caddy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26280" y="5623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in DE, HTTPS, ~€10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38160" y="4023360"/>
            <a:ext cx="3611880" cy="214884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8160" y="4023360"/>
            <a:ext cx="3611880" cy="3657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4069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104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21040" y="4846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Vibe-coding, writes the bulk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1040" y="5303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321040" y="5623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Tests, CI, Deployment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Channel 1: Web Research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search criteria to Salesforce lead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16916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 &amp; PROCESSING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121408"/>
            <a:ext cx="548640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200" y="1828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HANDOVER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58200" y="2121408"/>
            <a:ext cx="315468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0320"/>
            <a:ext cx="1600200" cy="21945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Clay.com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520440"/>
            <a:ext cx="3657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6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at 03:00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85416" y="3657600"/>
            <a:ext cx="21945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41448" y="2560320"/>
            <a:ext cx="1600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78608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78608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78608" y="352044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/ingest/clay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78608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HMAC-signed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78224" y="3657600"/>
            <a:ext cx="21945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334256" y="2560320"/>
            <a:ext cx="1600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71416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71416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71416" y="352044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1416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schema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71416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service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71032" y="3657600"/>
            <a:ext cx="21945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227064" y="2560320"/>
            <a:ext cx="1600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64224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64224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64224" y="352044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fields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64224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63840" y="3657600"/>
            <a:ext cx="21945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19872" y="2560320"/>
            <a:ext cx="1600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57032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57032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job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57032" y="352044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57032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Lead.create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5 min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57032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APScheduler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756648" y="3657600"/>
            <a:ext cx="21945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012680" y="2560320"/>
            <a:ext cx="1600200" cy="21945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0149840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149840" y="3063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149840" y="3520440"/>
            <a:ext cx="3657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49840" y="36576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149840" y="4389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6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 in Clay (daily)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34340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34340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~50–200 leads / run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13816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13816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max. 5 min to Salesforce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Channel 2: Email Signatures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push trigger — mail in, lead 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16916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645920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INTAKE, EXTRACTION &amp; QUALITY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938528"/>
            <a:ext cx="90068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77440"/>
            <a:ext cx="1783080" cy="178308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3657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mailbox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EF6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mailbox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90572" y="3268980"/>
            <a:ext cx="7315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77440" y="23774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1460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 Graph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514600" y="320040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webhook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service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65092" y="3268980"/>
            <a:ext cx="7315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51960" y="23774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8912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389120" y="320040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body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/ingest/email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9612" y="3268980"/>
            <a:ext cx="7315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26480" y="23774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63640" y="320040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External? Auto?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pre-check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14132" y="3268980"/>
            <a:ext cx="7315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01000" y="23774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13816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138160" y="320040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3816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schema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88652" y="3268980"/>
            <a:ext cx="7315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875520" y="23774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012680" y="2514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1268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0012680" y="3200400"/>
            <a:ext cx="36576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12680" y="3337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score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12680" y="3886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0–5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4572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score calculation →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937760"/>
            <a:ext cx="3611880" cy="868680"/>
          </a:xfrm>
          <a:prstGeom prst="rect">
            <a:avLst/>
          </a:prstGeom>
          <a:solidFill>
            <a:srgbClr val="EEF6DC"/>
          </a:solidFill>
          <a:ln w="12700">
            <a:solidFill>
              <a:srgbClr val="EEF6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4937760"/>
            <a:ext cx="91440" cy="86868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047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≥ 4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22960" y="53766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Auto-push to Salesforce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343400" y="4937760"/>
            <a:ext cx="361188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43400" y="4937760"/>
            <a:ext cx="9144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5047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2–3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617720" y="53766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mail to sales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138160" y="4937760"/>
            <a:ext cx="361188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38160" y="4937760"/>
            <a:ext cx="91440" cy="86868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0" y="5047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≤ 1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412480" y="53766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Rejected, archived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JOBS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renewal every 48 h   ·   Dead-man's switch hourly   ·   Backup daily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architecture: what runs where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server, four external services, clear separation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6060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600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SERVER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03320" y="1892808"/>
            <a:ext cx="475488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006840" y="1892808"/>
            <a:ext cx="2606040" cy="0"/>
          </a:xfrm>
          <a:prstGeom prst="line">
            <a:avLst/>
          </a:prstGeom>
          <a:noFill/>
          <a:ln w="12700">
            <a:solidFill>
              <a:srgbClr val="7AB0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103120"/>
            <a:ext cx="4754880" cy="36576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03320" y="2103120"/>
            <a:ext cx="475488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17627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HETZNER VPS · Germany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23591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docker-compose – one stack, one machine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788920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2788920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3337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 · LLM calls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UI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13248" y="2788920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13248" y="2788920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0408" y="3337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table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volume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94576" y="2788920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94576" y="2788920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31736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Caddy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31736" y="3337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proxy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Encrypt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31920" y="4224528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4224528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4407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69080" y="477316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· renewal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jobs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13248" y="4224528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13248" y="4224528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0408" y="4407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50408" y="477316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 checks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alerting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94576" y="4224528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94576" y="4224528"/>
            <a:ext cx="1371600" cy="54864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31736" y="4407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&amp; Backup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31736" y="477316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storage box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22860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" y="2286000"/>
            <a:ext cx="73152" cy="1188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Clay.com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77240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lead discovery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daily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1148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8640" y="4114800"/>
            <a:ext cx="73152" cy="1188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365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77240" y="4663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 mailbox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subscriptions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006840" y="22860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006840" y="2286000"/>
            <a:ext cx="73152" cy="1188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35440" y="2468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235440" y="2834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extraction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006840" y="41148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006840" y="4114800"/>
            <a:ext cx="73152" cy="1188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544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235440" y="4663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Lead.create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154680" y="2880360"/>
            <a:ext cx="5029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154680" y="4709160"/>
            <a:ext cx="5029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458200" y="2880360"/>
            <a:ext cx="5029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458200" y="4709160"/>
            <a:ext cx="5029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runs on a single machine in Germany.   On failure: documented recovery runbook, ~30 min to restore.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Roadmap: 5 weeks to production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build iteratively — first piece runs in production after week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50800">
            <a:solidFill>
              <a:srgbClr val="D5E8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3429000"/>
            <a:ext cx="457200" cy="45720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2011680" cy="1737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45920"/>
            <a:ext cx="2011680" cy="45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Accesses, approvals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(IT, Legal, Salesforce)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3429000"/>
            <a:ext cx="457200" cy="45720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54680" y="3931920"/>
            <a:ext cx="2011680" cy="1737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5623560"/>
            <a:ext cx="2011680" cy="45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023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4297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Skeleton &amp; Salesforce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4663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Skeleton runs, dummy leads reach Salesforce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429000"/>
            <a:ext cx="457200" cy="457200"/>
          </a:xfrm>
          <a:prstGeom prst="ellipse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94960" y="1645920"/>
            <a:ext cx="2011680" cy="1737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645920"/>
            <a:ext cx="201168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channel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32120" y="2377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 integration, signature parsing, first real leads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3429000"/>
            <a:ext cx="457200" cy="457200"/>
          </a:xfrm>
          <a:prstGeom prst="ellipse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35240" y="3931920"/>
            <a:ext cx="2011680" cy="1737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35240" y="5623560"/>
            <a:ext cx="201168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4023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4297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channel + Review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72400" y="4663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 integration, approval emails to sales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652760" y="3429000"/>
            <a:ext cx="457200" cy="457200"/>
          </a:xfrm>
          <a:prstGeom prst="ellipse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527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875520" y="1645920"/>
            <a:ext cx="2011680" cy="17373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5520" y="1645920"/>
            <a:ext cx="2011680" cy="45720"/>
          </a:xfrm>
          <a:prstGeom prst="rect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8C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1268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Go-live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012680" y="23774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Monitoring, training, production starts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Effort: ~16 person-days spread across Dev, Sales-Ops, IT, Salesforce admin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and value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math is positive from month 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cost per month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00" cy="411480"/>
          </a:xfrm>
          <a:prstGeom prst="rect">
            <a:avLst/>
          </a:prstGeom>
          <a:solidFill>
            <a:srgbClr val="F9FAFB"/>
          </a:solidFill>
          <a:ln w="6350">
            <a:solidFill>
              <a:srgbClr val="D5E8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Clay.com (lead source)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€150–350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486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 (extraction)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514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~€15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486400" cy="411480"/>
          </a:xfrm>
          <a:prstGeom prst="rect">
            <a:avLst/>
          </a:prstGeom>
          <a:solidFill>
            <a:srgbClr val="F9FAFB"/>
          </a:solidFill>
          <a:ln w="6350">
            <a:solidFill>
              <a:srgbClr val="D5E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(Hetzner)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~€10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486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tools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3520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~€80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5486400" cy="411480"/>
          </a:xfrm>
          <a:prstGeom prst="rect">
            <a:avLst/>
          </a:prstGeom>
          <a:solidFill>
            <a:srgbClr val="F9FAFB"/>
          </a:solidFill>
          <a:ln w="6350">
            <a:solidFill>
              <a:srgbClr val="D5E8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 &amp; Salesforce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€0 *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548640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0040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approx. €255–455 / month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included in existing licenses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371600"/>
            <a:ext cx="4846320" cy="4754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2103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€750–1,500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676656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effort / month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229600" y="3840480"/>
            <a:ext cx="1920240" cy="0"/>
          </a:xfrm>
          <a:prstGeom prst="line">
            <a:avLst/>
          </a:prstGeom>
          <a:noFill/>
          <a:ln w="25400">
            <a:solidFill>
              <a:srgbClr val="7AB0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assumption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43434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automated leads/month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5–10 min research saved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15–30 hours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€50 fully loaded cost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5715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Break-even from month 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and how we address them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We've planned for the main pitfalls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73152" cy="8229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08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GDPR / data protection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508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Pre-approval by Legal. Clear separation: we create leads — contact decision stays manual with sales.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6424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77440"/>
            <a:ext cx="73152" cy="8229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468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makes extraction mistakes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black box: deterministic rules and human review step on uncertain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06424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73152" cy="8229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429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queue flooded with bad leads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3429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 logic catches duplicates. Quality tiers filter before anything reaches Salesforce.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97680"/>
            <a:ext cx="73152" cy="8229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89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fails silently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4389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alerts on failures by email. Daily backups, documented recovery.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D5E8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257800"/>
            <a:ext cx="73152" cy="8229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49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on external vendor (Clay)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5349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data format is our own. Clay is a replaceable source — we can build in-house research later.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need from the team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we can start next week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109728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&amp; project sign-off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Frame: ~€460 / month, ~16 person-days across 5 weeks.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417320"/>
            <a:ext cx="109728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5544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GDPR assessment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1945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Clarify permitted data storage for B2B leads.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34640"/>
            <a:ext cx="109728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71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246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access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611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App approval for access to the sales mailbox.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283464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834640"/>
            <a:ext cx="109728" cy="12801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971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LEAD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2461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pilot scope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3611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industry, region, mailbox do we start with?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251960"/>
            <a:ext cx="109728" cy="128016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3891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OPS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criteria &amp; review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50292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search profiles, review sample lead quality.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4251960"/>
            <a:ext cx="5440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B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4251960"/>
            <a:ext cx="109728" cy="12801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3891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SF ADMIN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Salesforce setup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46520" y="50292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 access and three custom fields.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Concrete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this week and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40680" cy="4572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40680" cy="73152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&amp; accesses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decision &amp; budget sign-off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38328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Kick off GDPR assessment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02336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Lead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pilot industry &amp; mailbox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66344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Lead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product owner role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530352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257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5486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 + Claude Code setup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1508760"/>
            <a:ext cx="5440680" cy="45720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508760"/>
            <a:ext cx="5440680" cy="73152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1783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0: prerequisites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720840" y="274320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Azure App Registration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20840" y="338328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SF Admin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3566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 + 3 custom fields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20840" y="402336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Ops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Clay account &amp; first search profiles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20840" y="466344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VPS, configure DNS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720840" y="5303520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7AB0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5257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40880" y="5486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 API keys, start skeleton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6172200"/>
            <a:ext cx="1129284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199632"/>
            <a:ext cx="11292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decision by Friday this week   ·   Sprint 0 starts Monday next week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5-week rollout — what happens when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2057400"/>
            <a:ext cx="0" cy="4206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057400"/>
            <a:ext cx="0" cy="4206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2057400"/>
            <a:ext cx="0" cy="4206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92640" y="2057400"/>
            <a:ext cx="0" cy="4206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2057400"/>
            <a:ext cx="9144000" cy="0"/>
          </a:xfrm>
          <a:prstGeom prst="line">
            <a:avLst/>
          </a:prstGeom>
          <a:noFill/>
          <a:ln w="19050">
            <a:solidFill>
              <a:srgbClr val="7AB0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626364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58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0  Prerequisites &amp; approvals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2286000"/>
            <a:ext cx="173736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614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1  Skeleton &amp; Salesforce sync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2788920"/>
            <a:ext cx="118872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64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2  Outlook pipeline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3291840"/>
            <a:ext cx="228600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  Clay integration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3794760"/>
            <a:ext cx="82296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70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4  Review 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23960" y="4297680"/>
            <a:ext cx="45720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7731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5  Go-live &amp; monitoring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72600" y="4800600"/>
            <a:ext cx="118872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2760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 launch &amp; retro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652760" y="5303520"/>
            <a:ext cx="822960" cy="292608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9080" y="6126480"/>
            <a:ext cx="274320" cy="27432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6464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78040" y="6126480"/>
            <a:ext cx="274320" cy="27432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6464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SF sync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555480" y="6126480"/>
            <a:ext cx="274320" cy="27432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6464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leads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DB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1384280" y="6126480"/>
            <a:ext cx="274320" cy="27432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44200" y="64648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6309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B0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6400800"/>
            <a:ext cx="228600" cy="164592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6382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package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6400800"/>
            <a:ext cx="164592" cy="164592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6382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638251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Sprints run partially in parallel — prerequisites (Sprint 0) don't block anything.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Automation  |  Team Pitch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AB02D"/>
          </a:solidFill>
          <a:ln w="12700">
            <a:solidFill>
              <a:srgbClr val="7AB0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3200400" cy="0"/>
          </a:xfrm>
          <a:prstGeom prst="line">
            <a:avLst/>
          </a:prstGeom>
          <a:noFill/>
          <a:ln w="38100">
            <a:solidFill>
              <a:srgbClr val="7AB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Questions, concerns, suggestions — now is the moment.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5E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step: decision by end of week, Sprint 0 starts Monday.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Lead Capture with AI</dc:title>
  <dc:subject>PptxGenJS Presentation</dc:subject>
  <dc:creator>Lead Automation Project</dc:creator>
  <cp:lastModifiedBy>Lead Automation Project</cp:lastModifiedBy>
  <cp:revision>1</cp:revision>
  <dcterms:created xsi:type="dcterms:W3CDTF">2026-05-10T23:06:03Z</dcterms:created>
  <dcterms:modified xsi:type="dcterms:W3CDTF">2026-05-10T23:06:03Z</dcterms:modified>
</cp:coreProperties>
</file>